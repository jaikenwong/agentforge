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60" r:id="rId11"/>
    <p:sldId id="266" r:id="rId17"/>
    <p:sldId id="267" r:id="rId18"/>
    <p:sldId id="268" r:id="rId19"/>
    <p:sldId id="264" r:id="rId15"/>
    <p:sldId id="261" r:id="rId12"/>
    <p:sldId id="262" r:id="rId13"/>
    <p:sldId id="263" r:id="rId14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9.xml"/><Relationship Id="rId16" Type="http://schemas.openxmlformats.org/officeDocument/2006/relationships/slide" Target="slides/slide13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2011680" cy="34747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990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AgentForge 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用一句话，让 AI 帮你工作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FA9EC"/>
                </a:solidFill>
                <a:latin typeface="Calibri"/>
              </a:rPr>
              <a:t>对话驱动的企业 Agent 工厂平台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3D1C7"/>
                </a:solidFill>
                <a:latin typeface="Calibri"/>
              </a:rPr>
              <a:t>描述目标  →  自动生成 Agent  →  部署到飞书 / 网站  →  持续进化</a:t>
            </a:r>
          </a:p>
        </p:txBody>
      </p:sp>
      <p:sp>
        <p:nvSpPr>
          <p:cNvPr id="9" name="Oval 8"/>
          <p:cNvSpPr/>
          <p:nvPr/>
        </p:nvSpPr>
        <p:spPr>
          <a:xfrm>
            <a:off x="10442448" y="5870448"/>
            <a:ext cx="146304" cy="146304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53928" y="5870448"/>
            <a:ext cx="146304" cy="14630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65408" y="5870448"/>
            <a:ext cx="146304" cy="14630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780"/>
                </a:solidFill>
                <a:latin typeface="Calibri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背景：我们在解决什么问题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103120"/>
          </a:xfrm>
          <a:prstGeom prst="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64592" cy="2103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85A30"/>
                </a:solidFill>
                <a:latin typeface="Calibri"/>
              </a:rPr>
              <a:t>企业知识大量沉睡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F5E5A"/>
                </a:solidFill>
                <a:latin typeface="Calibri"/>
              </a:rPr>
              <a:t>技术支持群、客服群每天重复回答相同问题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F5E5A"/>
                </a:solidFill>
                <a:latin typeface="Calibri"/>
              </a:rPr>
              <a:t>答案早已存在于历史记录里，却没人能自动用上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F5E5A"/>
                </a:solidFill>
                <a:latin typeface="Calibri"/>
              </a:rPr>
              <a:t>新人入职、交接班——经验无法高效传递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03520" cy="2103120"/>
          </a:xfrm>
          <a:prstGeom prst="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164592" cy="21031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85A30"/>
                </a:solidFill>
                <a:latin typeface="Calibri"/>
              </a:rPr>
              <a:t>现有 Agent 工具门槛过高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F5E5A"/>
                </a:solidFill>
                <a:latin typeface="Calibri"/>
              </a:rPr>
              <a:t>拖拽配置、写 Prompt、对接 API——非技术用户望而却步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F5E5A"/>
                </a:solidFill>
                <a:latin typeface="Calibri"/>
              </a:rPr>
              <a:t>技术人员帮非技术用户配置，效率极低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F5E5A"/>
                </a:solidFill>
                <a:latin typeface="Calibri"/>
              </a:rPr>
              <a:t>市场上没有真正「描述目标即可」的产品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1155680" cy="9144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164592" cy="9144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1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85FA5"/>
                </a:solidFill>
                <a:latin typeface="Calibri"/>
              </a:rPr>
              <a:t>核心洞察：现有产品是把【技术定义】换了一个皮，AgentForge 的目标是让用户完全感知不到 Agent 的存在，只感知到目标被达成。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1155680" cy="169164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56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780"/>
                </a:solidFill>
                <a:latin typeface="Calibri"/>
              </a:rPr>
              <a:t>分析过程摘要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E5A"/>
                </a:solidFill>
                <a:latin typeface="Calibri"/>
              </a:rPr>
              <a:t>· 调研 Lindy、n8n、Langflow、V7 Go 等主流 No-Code 平台，核心差距在于：用户仍需「配置流程」而非「描述目标」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E5A"/>
                </a:solidFill>
                <a:latin typeface="Calibri"/>
              </a:rPr>
              <a:t>· 对比 LangGraph、CrewAI、AutoGen、Google ADK、OpenAI Agents SDK，均未同时具备：文件定义即部署 + 语义自动路由 + 上下文强隔离三者结合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E5A"/>
                </a:solidFill>
                <a:latin typeface="Calibri"/>
              </a:rPr>
              <a:t>· 企业群聊答疑、网站智能问答是最高频且付费意愿最强的 PMF 验证场景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  <a:latin typeface="Calibri"/>
              </a:rPr>
              <a:t>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"不是让非技术用户也能配置 Agent
——是让用户完全感知不到 Agent 的存在"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2743200" cy="2286000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2743200" cy="50292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对话即部署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6634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A2A"/>
                </a:solidFill>
                <a:latin typeface="Calibri"/>
              </a:rPr>
              <a:t>描述目标
全自动生成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840480"/>
            <a:ext cx="2743200" cy="22860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3840480"/>
            <a:ext cx="2743200" cy="5029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上下文变知识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6634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A2A"/>
                </a:solidFill>
                <a:latin typeface="Calibri"/>
              </a:rPr>
              <a:t>群聊/文档
自动提炼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3840480"/>
            <a:ext cx="2743200" cy="2286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840480"/>
            <a:ext cx="2743200" cy="50292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生命有终点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6634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2A2A"/>
                </a:solidFill>
                <a:latin typeface="Calibri"/>
              </a:rPr>
              <a:t>用完归档
知识永存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六大核心能力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743200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4864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01  对话即部署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0195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描述目标，全自动生成 Agent 定义、配置工具权限、完成渠道部署，全程无需技术操作。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88720"/>
            <a:ext cx="3657600" cy="27432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5486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02  上下文变知识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90195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群聊记录、网站内容、文档资料自动提炼为结构化知识，注入 Agent 记忆，开箱即懂业务。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657600" cy="2743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657600" cy="54864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03  有生命周期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0195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用一天或一周均可。到期自动归档，知识永久沉淀，需要时一键复活，空闲时零成本。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657600" cy="27432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657600" cy="5486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04  渠道即插即用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37083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飞书群机器人、网站嵌入 Widget、Webhook 触发——统一接入，一个 Agent 服务多渠道。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657600"/>
            <a:ext cx="3657600" cy="2743200"/>
          </a:xfrm>
          <a:prstGeom prst="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657600"/>
            <a:ext cx="3657600" cy="54864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05  自我进化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37083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每次执行自动评分，低分触发重新优化；用户反馈驱动知识库扩充，越用越准。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657600"/>
            <a:ext cx="3657600" cy="27432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657600"/>
            <a:ext cx="3657600" cy="548640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7490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06  安全可控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37083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最小权限原则，每个 Agent 只能使用声明的工具；支持私有化部署，数据不出内网。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四步上线，全程无代码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560320" cy="2011680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560320" cy="5943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16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98448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描述目标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20240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用自然语言说出你想要什么，平台通过对话澄清细节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73736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3D1C7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188720"/>
            <a:ext cx="2560320" cy="201168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2112" y="1188720"/>
            <a:ext cx="2560320" cy="594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216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2" y="1298448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分析上下文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20240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自动读取群消息、网站内容，提炼领域知识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19" y="173736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3D1C7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1188720"/>
            <a:ext cx="2560320" cy="201168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98464" y="1188720"/>
            <a:ext cx="2560320" cy="59436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216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1298448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生成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1920240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自动生成角色定义、工具配置、生命周期策略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173736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3D1C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14816" y="1188720"/>
            <a:ext cx="2560320" cy="201168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14816" y="1188720"/>
            <a:ext cx="2560320" cy="5943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1216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6" y="1298448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一键部署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544" y="1920240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接入飞书群或网站，立即工作，持续优化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429000"/>
            <a:ext cx="11430000" cy="306324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547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780"/>
                </a:solidFill>
                <a:latin typeface="Calibri"/>
              </a:rPr>
              <a:t>真实对话示例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77639"/>
            <a:ext cx="1188720" cy="31089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005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5FA5"/>
                </a:solidFill>
                <a:latin typeface="Calibri"/>
              </a:rPr>
              <a:t>用户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3977639"/>
            <a:ext cx="9601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4023359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帮我根据这个群的聊天记录，做一个答疑机器人拉进来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53127"/>
            <a:ext cx="1188720" cy="310896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48055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9E75"/>
                </a:solidFill>
                <a:latin typeface="Calibri"/>
              </a:rPr>
              <a:t>AgentForge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4453127"/>
            <a:ext cx="9601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60" y="4498847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好的，我分析了最近 500 条消息，主要是 Java 和 Spring 的技术问题。我帮你创建好了，需要把它拉进群吗？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28615"/>
            <a:ext cx="1188720" cy="310896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95604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5FA5"/>
                </a:solidFill>
                <a:latin typeface="Calibri"/>
              </a:rPr>
              <a:t>用户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4928615"/>
            <a:ext cx="9601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4974335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拉进去，如果有重大问题立刻通知我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404103"/>
            <a:ext cx="1188720" cy="310896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43153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9E75"/>
                </a:solidFill>
                <a:latin typeface="Calibri"/>
              </a:rPr>
              <a:t>AgentForge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19" y="5404103"/>
            <a:ext cx="9601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65960" y="5449823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已入群，并设置了重大问题即时通知。默认 7 天有效期，到期前一天会提醒你。你可以 @ 它试试。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三个真实场景：从说出目标到 Agent 上线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3767328" cy="5413248"/>
          </a:xfrm>
          <a:prstGeom prst="rect">
            <a:avLst/>
          </a:prstGeom>
          <a:solidFill>
            <a:srgbClr val="EEEDFE"/>
          </a:solidFill>
          <a:ln w="762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097280" cy="274320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3444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场景一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3538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34AB7"/>
                </a:solidFill>
                <a:latin typeface="Calibri"/>
              </a:rPr>
              <a:t>技术支持群答疑机器人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538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F5E5A"/>
                </a:solidFill>
                <a:latin typeface="Calibri"/>
              </a:rPr>
              <a:t>飞书群里每天几十个重复的 Java / Spring 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2633472"/>
            <a:ext cx="3566160" cy="18288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329184" cy="2743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825496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2788920"/>
            <a:ext cx="3145536" cy="402336"/>
          </a:xfrm>
          <a:prstGeom prst="rect">
            <a:avLst/>
          </a:prstGeom>
          <a:solidFill>
            <a:srgbClr val="E6F1FB"/>
          </a:solidFill>
          <a:ln w="254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834639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帮我根据这个群的聊天记录做个答疑机器人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00984"/>
            <a:ext cx="329184" cy="274320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3337560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" y="3300984"/>
            <a:ext cx="3145536" cy="402336"/>
          </a:xfrm>
          <a:prstGeom prst="rect">
            <a:avLst/>
          </a:prstGeom>
          <a:solidFill>
            <a:srgbClr val="EEEDFE"/>
          </a:solidFill>
          <a:ln w="254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346703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分析了 500 条消息，主要是 Java/Spring 问题，
已生成机器人，要拉进群吗？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13048"/>
            <a:ext cx="329184" cy="2743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849624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" y="3813048"/>
            <a:ext cx="3145536" cy="402336"/>
          </a:xfrm>
          <a:prstGeom prst="rect">
            <a:avLst/>
          </a:prstGeom>
          <a:solidFill>
            <a:srgbClr val="E6F1FB"/>
          </a:solidFill>
          <a:ln w="254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858768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拉进去，7天有效期就行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25112"/>
            <a:ext cx="329184" cy="274320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361688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" y="4325112"/>
            <a:ext cx="3145536" cy="402336"/>
          </a:xfrm>
          <a:prstGeom prst="rect">
            <a:avLst/>
          </a:prstGeom>
          <a:solidFill>
            <a:srgbClr val="EEEDFE"/>
          </a:solidFill>
          <a:ln w="254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37083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✓ 已入群，可以 @ 它试试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7952" y="1078992"/>
            <a:ext cx="3767328" cy="5413248"/>
          </a:xfrm>
          <a:prstGeom prst="rect">
            <a:avLst/>
          </a:prstGeom>
          <a:solidFill>
            <a:srgbClr val="E1F5EE"/>
          </a:solidFill>
          <a:ln w="762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25112" y="1207008"/>
            <a:ext cx="1097280" cy="274320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123444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场景二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1609344"/>
            <a:ext cx="3538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9E75"/>
                </a:solidFill>
                <a:latin typeface="Calibri"/>
              </a:rPr>
              <a:t>新员工入职助手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2103120"/>
            <a:ext cx="3538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F5E5A"/>
                </a:solidFill>
                <a:latin typeface="Calibri"/>
              </a:rPr>
              <a:t>把 HR 手册、公司流程、常见问题做成随时可问的机器人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633472"/>
            <a:ext cx="3566160" cy="18288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25112" y="2788920"/>
            <a:ext cx="329184" cy="2743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4256" y="2825496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0016" y="2788920"/>
            <a:ext cx="3145536" cy="402336"/>
          </a:xfrm>
          <a:prstGeom prst="rect">
            <a:avLst/>
          </a:prstGeom>
          <a:solidFill>
            <a:srgbClr val="E6F1FB"/>
          </a:solidFill>
          <a:ln w="254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2834639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把我们的入职手册做成一个机器人，
新员工可以随时来问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5112" y="3300984"/>
            <a:ext cx="329184" cy="274320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6" y="3337560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0016" y="3300984"/>
            <a:ext cx="3145536" cy="402336"/>
          </a:xfrm>
          <a:prstGeom prst="rect">
            <a:avLst/>
          </a:prstGeom>
          <a:solidFill>
            <a:srgbClr val="E1F5EE"/>
          </a:solidFill>
          <a:ln w="25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3346703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上传文档后我分析了一下，主要涵盖福利、
流程、IT 配置三块，已生成，部署到哪里？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25112" y="3813048"/>
            <a:ext cx="329184" cy="2743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34256" y="3849624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00016" y="3813048"/>
            <a:ext cx="3145536" cy="402336"/>
          </a:xfrm>
          <a:prstGeom prst="rect">
            <a:avLst/>
          </a:prstGeom>
          <a:solidFill>
            <a:srgbClr val="E6F1FB"/>
          </a:solidFill>
          <a:ln w="254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3858768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放到内部网站和飞书都要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5112" y="4325112"/>
            <a:ext cx="329184" cy="274320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34256" y="4361688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0016" y="4325112"/>
            <a:ext cx="3145536" cy="402336"/>
          </a:xfrm>
          <a:prstGeom prst="rect">
            <a:avLst/>
          </a:prstGeom>
          <a:solidFill>
            <a:srgbClr val="E1F5EE"/>
          </a:solidFill>
          <a:ln w="254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437083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✓ 双渠道已部署，Widget 嵌入代码已发邮件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5864" y="1078992"/>
            <a:ext cx="3767328" cy="5413248"/>
          </a:xfrm>
          <a:prstGeom prst="rect">
            <a:avLst/>
          </a:prstGeom>
          <a:solidFill>
            <a:srgbClr val="FAEEDA"/>
          </a:solidFill>
          <a:ln w="762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193024" y="1207008"/>
            <a:ext cx="1097280" cy="274320"/>
          </a:xfrm>
          <a:prstGeom prst="round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2" y="123444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场景三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1609344"/>
            <a:ext cx="3538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A7517"/>
                </a:solidFill>
                <a:latin typeface="Calibri"/>
              </a:rPr>
              <a:t>竞品动态监控播报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2103120"/>
            <a:ext cx="3538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F5E5A"/>
                </a:solidFill>
                <a:latin typeface="Calibri"/>
              </a:rPr>
              <a:t>每天早上自动推送竞争对手的价格变动和新功能发布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65592" y="2633472"/>
            <a:ext cx="3566160" cy="18288"/>
          </a:xfrm>
          <a:prstGeom prst="rect">
            <a:avLst/>
          </a:prstGeom>
          <a:solidFill>
            <a:srgbClr val="D3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93024" y="2788920"/>
            <a:ext cx="329184" cy="2743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02168" y="2825496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67928" y="2788920"/>
            <a:ext cx="3145536" cy="402336"/>
          </a:xfrm>
          <a:prstGeom prst="rect">
            <a:avLst/>
          </a:prstGeom>
          <a:solidFill>
            <a:srgbClr val="E6F1FB"/>
          </a:solidFill>
          <a:ln w="254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22792" y="2834639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帮我每天早上监控 A 公司和 B 公司，
价格和新功能变化发到我飞书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93024" y="3300984"/>
            <a:ext cx="329184" cy="274320"/>
          </a:xfrm>
          <a:prstGeom prst="round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02168" y="3337560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67928" y="3300984"/>
            <a:ext cx="3145536" cy="402336"/>
          </a:xfrm>
          <a:prstGeom prst="rect">
            <a:avLst/>
          </a:prstGeom>
          <a:solidFill>
            <a:srgbClr val="FAEEDA"/>
          </a:solidFill>
          <a:ln w="254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22792" y="3346703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好的，监控范围确认：官网定价页 + 更新日志。
首次报告明早 9:00 推送，要调整吗？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93024" y="3813048"/>
            <a:ext cx="329184" cy="2743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02168" y="3849624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67928" y="3813048"/>
            <a:ext cx="3145536" cy="402336"/>
          </a:xfrm>
          <a:prstGeom prst="rect">
            <a:avLst/>
          </a:prstGeom>
          <a:solidFill>
            <a:srgbClr val="E6F1FB"/>
          </a:solidFill>
          <a:ln w="254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22792" y="3858768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加上他们的招聘动态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93024" y="4325112"/>
            <a:ext cx="329184" cy="274320"/>
          </a:xfrm>
          <a:prstGeom prst="round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2168" y="4361688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67928" y="4325112"/>
            <a:ext cx="3145536" cy="402336"/>
          </a:xfrm>
          <a:prstGeom prst="rect">
            <a:avLst/>
          </a:prstGeom>
          <a:solidFill>
            <a:srgbClr val="FAEEDA"/>
          </a:solidFill>
          <a:ln w="254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22792" y="437083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✓ 已加入，今后每日 9:00 三项合并推送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656539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共同点：用户只说了"要什么"，没有填任何表单、没有拖拽任何节点、没有写任何配置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384280" y="64922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同一个目标，三种平台的操作对比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F5E5A"/>
                </a:solidFill>
                <a:latin typeface="Calibri"/>
              </a:rPr>
              <a:t>目标：「根据飞书群历史消息，做一个能回答 Java 问题的群机器人，7 天有效」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44752"/>
            <a:ext cx="3767328" cy="4937760"/>
          </a:xfrm>
          <a:prstGeom prst="rect">
            <a:avLst/>
          </a:prstGeom>
          <a:solidFill>
            <a:srgbClr val="FFFFFF"/>
          </a:solidFill>
          <a:ln w="10160">
            <a:solidFill>
              <a:srgbClr val="A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3767328" cy="475488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96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1517904"/>
            <a:ext cx="1298448" cy="274320"/>
          </a:xfrm>
          <a:prstGeom prst="round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54533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32D2D"/>
                </a:solidFill>
                <a:latin typeface="Calibri"/>
              </a:rPr>
              <a:t>需要 12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① 打开 n8n，新建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40864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② 添加 Webhook 节点（接收飞书消息）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③ 配置飞书 OAuth，填写 App ID / Secret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④ 添加"读取文件"节点，上传群聊记录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1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⑤ 添加 Code 节点，写 JS 解析消息格式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84447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⑥ 添加 OpenAI 节点，手写 system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95344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⑦ 添加条件判断节点（是否包含问题关键词）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⑧ 添加飞书"发送消息"节点，配置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17136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⑨ 手动测试每个节点，逐一调试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28031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⑩ 部署 Workflow，设置触发器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38927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⑪ 没有生命周期管理，7天后需手动关闭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9823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⑫ 没有知识库，历史消息需自行处理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391656"/>
            <a:ext cx="3767328" cy="347472"/>
          </a:xfrm>
          <a:prstGeom prst="rect">
            <a:avLst/>
          </a:prstGeom>
          <a:solidFill>
            <a:srgbClr val="FCEBEB"/>
          </a:solidFill>
          <a:ln w="3810">
            <a:solidFill>
              <a:srgbClr val="A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6437376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32D2D"/>
                </a:solidFill>
                <a:latin typeface="Calibri"/>
              </a:rPr>
              <a:t>需要懂 Webhook、OAuth、JS 基础，约 2~4 小时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1444752"/>
            <a:ext cx="3767328" cy="4937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7952" y="1444752"/>
            <a:ext cx="3767328" cy="475488"/>
          </a:xfrm>
          <a:prstGeom prst="rect">
            <a:avLst/>
          </a:prstGeom>
          <a:solidFill>
            <a:srgbClr val="E6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5112" y="14996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Dify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59" y="1517904"/>
            <a:ext cx="1298448" cy="2743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154533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8500"/>
                </a:solidFill>
                <a:latin typeface="Calibri"/>
              </a:rPr>
              <a:t>需要 8 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202996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500"/>
                </a:solidFill>
                <a:latin typeface="Calibri"/>
              </a:rPr>
              <a:t>① 新建应用，选择"聊天助手"类型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2340864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500"/>
                </a:solidFill>
                <a:latin typeface="Calibri"/>
              </a:rPr>
              <a:t>② 手动整理群聊记录为文本文件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2651760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500"/>
                </a:solidFill>
                <a:latin typeface="Calibri"/>
              </a:rPr>
              <a:t>③ 创建知识库，上传文件并等待索引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2962656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500"/>
                </a:solidFill>
                <a:latin typeface="Calibri"/>
              </a:rPr>
              <a:t>④ 在编排界面手写 system 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3273551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500"/>
                </a:solidFill>
                <a:latin typeface="Calibri"/>
              </a:rPr>
              <a:t>⑤ 关联知识库到应用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3584447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500"/>
                </a:solidFill>
                <a:latin typeface="Calibri"/>
              </a:rPr>
              <a:t>⑥ 在飞书开放平台创建机器人并配置权限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3895344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500"/>
                </a:solidFill>
                <a:latin typeface="Calibri"/>
              </a:rPr>
              <a:t>⑦ 自行写代码对接飞书 Webhook（Dify 无内置）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4206240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8500"/>
                </a:solidFill>
                <a:latin typeface="Calibri"/>
              </a:rPr>
              <a:t>⑧ 7天后需手动停用或删除应用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87952" y="6391656"/>
            <a:ext cx="3767328" cy="347472"/>
          </a:xfrm>
          <a:prstGeom prst="rect">
            <a:avLst/>
          </a:prstGeom>
          <a:solidFill>
            <a:srgbClr val="FFF3CD"/>
          </a:solidFill>
          <a:ln w="3810">
            <a:solidFill>
              <a:srgbClr val="E6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6437376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68500"/>
                </a:solidFill>
                <a:latin typeface="Calibri"/>
              </a:rPr>
              <a:t>知识库易用，但飞书接入仍需自行开发，约 1~2 小时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5864" y="1444752"/>
            <a:ext cx="3767328" cy="4937760"/>
          </a:xfrm>
          <a:prstGeom prst="rect">
            <a:avLst/>
          </a:prstGeom>
          <a:solidFill>
            <a:srgbClr val="FFFFFF"/>
          </a:solidFill>
          <a:ln w="1016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55864" y="1444752"/>
            <a:ext cx="3767328" cy="47548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4" y="14996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AgentForge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05872" y="1517904"/>
            <a:ext cx="1298448" cy="274320"/>
          </a:xfrm>
          <a:prstGeom prst="round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33304" y="154533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9E75"/>
                </a:solidFill>
                <a:latin typeface="Calibri"/>
              </a:rPr>
              <a:t>只需 1 句话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2029968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5E5A"/>
                </a:solidFill>
                <a:latin typeface="Calibri"/>
              </a:rPr>
              <a:t>① 说：「根据这个群的消息做个答疑机器人，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2340864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5E5A"/>
                </a:solidFill>
                <a:latin typeface="Calibri"/>
              </a:rPr>
              <a:t>    7天有效，拉进技术支持群」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4" y="2962656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✓ 平台自动分析群聊消息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3273551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✓ 自动生成 system prompt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3584447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✓ 自动配置飞书接入权限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3895344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✓ 自动部署并发送入群邀请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4" y="4206240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✓ 7天到期前自动提醒，知识自动归档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4517136"/>
            <a:ext cx="3538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✓ 无触发时零资源消耗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55864" y="6391656"/>
            <a:ext cx="3767328" cy="347472"/>
          </a:xfrm>
          <a:prstGeom prst="rect">
            <a:avLst/>
          </a:prstGeom>
          <a:solidFill>
            <a:srgbClr val="E1F5EE"/>
          </a:solidFill>
          <a:ln w="381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65592" y="6437376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D9E75"/>
                </a:solidFill>
                <a:latin typeface="Calibri"/>
              </a:rPr>
              <a:t>全程对话，无需任何技术操作，&lt; 3 分钟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980176"/>
            <a:ext cx="1152144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0350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操作耗时：n8n ≈ 2~4 小时   ·   Dify ≈ 1~2 小时   ·   AgentForge &lt; 3 分钟   （且无需任何技术背景）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84280" y="64922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Agent 状态机：闲置与弹性管理的核心优势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828800"/>
            <a:ext cx="2011680" cy="749808"/>
          </a:xfrm>
          <a:prstGeom prst="rect">
            <a:avLst/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20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88780"/>
                </a:solidFill>
                <a:latin typeface="Calibri"/>
              </a:rPr>
              <a:t>DEFINED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286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F5E5A"/>
                </a:solidFill>
                <a:latin typeface="Calibri"/>
              </a:rPr>
              <a:t>已定义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15568"/>
            <a:ext cx="2011680" cy="74980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34AB7"/>
                </a:solidFill>
                <a:latin typeface="Calibri"/>
              </a:rPr>
              <a:t>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572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F5E5A"/>
                </a:solidFill>
                <a:latin typeface="Calibri"/>
              </a:rPr>
              <a:t>待触发，零消耗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578608"/>
            <a:ext cx="2011680" cy="749808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2670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7517"/>
                </a:solidFill>
                <a:latin typeface="Calibri"/>
              </a:rPr>
              <a:t>IDLE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30358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F5E5A"/>
                </a:solidFill>
                <a:latin typeface="Calibri"/>
              </a:rPr>
              <a:t>冷却中，零消耗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310128"/>
            <a:ext cx="2011680" cy="749808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4015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9E75"/>
                </a:solidFill>
                <a:latin typeface="Calibri"/>
              </a:rPr>
              <a:t>ARCHIVED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7673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F5E5A"/>
                </a:solidFill>
                <a:latin typeface="Calibri"/>
              </a:rPr>
              <a:t>知识沉淀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1115568"/>
            <a:ext cx="2011680" cy="74980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1848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85FA5"/>
                </a:solidFill>
                <a:latin typeface="Calibri"/>
              </a:rPr>
              <a:t>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8" y="1572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F5E5A"/>
                </a:solidFill>
                <a:latin typeface="Calibri"/>
              </a:rPr>
              <a:t>执行中，计费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2148840"/>
            <a:ext cx="420624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2032" y="2176272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34AB7"/>
                </a:solidFill>
                <a:latin typeface="Calibri"/>
              </a:rPr>
              <a:t>部署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920240"/>
            <a:ext cx="420624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1947672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5FA5"/>
                </a:solidFill>
                <a:latin typeface="Calibri"/>
              </a:rPr>
              <a:t>触发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95728"/>
            <a:ext cx="420624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2423160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9E75"/>
                </a:solidFill>
                <a:latin typeface="Calibri"/>
              </a:rPr>
              <a:t>完成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148840"/>
            <a:ext cx="420624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2176272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A7517"/>
                </a:solidFill>
                <a:latin typeface="Calibri"/>
              </a:rPr>
              <a:t>超时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3291840"/>
            <a:ext cx="420624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0984" y="3319272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780"/>
                </a:solidFill>
                <a:latin typeface="Calibri"/>
              </a:rPr>
              <a:t>到期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3218688"/>
            <a:ext cx="420624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17904" y="3246120"/>
            <a:ext cx="329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34AB7"/>
                </a:solidFill>
                <a:latin typeface="Calibri"/>
              </a:rPr>
              <a:t>复活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19202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D1C7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14538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D1C7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18288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D1C7"/>
                </a:solidFill>
                <a:latin typeface="Calibri"/>
              </a:rPr>
              <a:t>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22860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D1C7"/>
                </a:solidFill>
                <a:latin typeface="Calibri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9504" y="314553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D1C7"/>
                </a:solidFill>
                <a:latin typeface="Calibri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299923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D1C7"/>
                </a:solidFill>
                <a:latin typeface="Calibri"/>
              </a:rPr>
              <a:t>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73552" y="1901952"/>
            <a:ext cx="1078992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1929384"/>
            <a:ext cx="987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34AB7"/>
                </a:solidFill>
                <a:latin typeface="Calibri"/>
              </a:rPr>
              <a:t>零成本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73552" y="3364992"/>
            <a:ext cx="1078992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28416" y="3392424"/>
            <a:ext cx="987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9E75"/>
                </a:solidFill>
                <a:latin typeface="Calibri"/>
              </a:rPr>
              <a:t>零成本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" y="2615184"/>
            <a:ext cx="1078992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" y="2642615"/>
            <a:ext cx="987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780"/>
                </a:solidFill>
                <a:latin typeface="Calibri"/>
              </a:rPr>
              <a:t>零成本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59552" y="1920240"/>
            <a:ext cx="1078992" cy="2194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14416" y="1947672"/>
            <a:ext cx="987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85FA5"/>
                </a:solidFill>
                <a:latin typeface="Calibri"/>
              </a:rPr>
              <a:t>Token计费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1115568"/>
            <a:ext cx="4041648" cy="1389888"/>
          </a:xfrm>
          <a:prstGeom prst="rect">
            <a:avLst/>
          </a:prstGeom>
          <a:solidFill>
            <a:srgbClr val="FAEEDA"/>
          </a:solidFill>
          <a:ln w="762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09560" y="1115568"/>
            <a:ext cx="164592" cy="138988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12527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A7517"/>
                </a:solidFill>
                <a:latin typeface="Calibri"/>
              </a:rPr>
              <a:t>弹性零成本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1664207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5E5A"/>
                </a:solidFill>
                <a:latin typeface="Calibri"/>
              </a:rPr>
              <a:t>1000 个 Agent 同时存在，只有被触发的那个 RUNNING 状态才消耗算力。
其余全部 ACTIVE/IDLE，资源占用 = 数据库一行记录。
传统方案：每个 Bot 是一个常驻进程，1000 个就是 1000 个进程。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09560" y="2651760"/>
            <a:ext cx="4041648" cy="1389888"/>
          </a:xfrm>
          <a:prstGeom prst="rect">
            <a:avLst/>
          </a:prstGeom>
          <a:solidFill>
            <a:srgbClr val="EEEDFE"/>
          </a:solidFill>
          <a:ln w="762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09560" y="2651760"/>
            <a:ext cx="164592" cy="138988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79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34AB7"/>
                </a:solidFill>
                <a:latin typeface="Calibri"/>
              </a:rPr>
              <a:t>冷却自动唤醒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3200400"/>
            <a:ext cx="36576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5E5A"/>
                </a:solidFill>
                <a:latin typeface="Calibri"/>
              </a:rPr>
              <a:t>用户 3 天没问问题 → Agent 自动进入 IDLE（零成本待命）。
第 4 天用户发消息 → 50ms 内自动从 IDLE 唤醒为 ACTIVE 并执行。
全程用户无感知，无需人工干预，无需重新配置。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9560" y="4187952"/>
            <a:ext cx="4041648" cy="1389888"/>
          </a:xfrm>
          <a:prstGeom prst="rect">
            <a:avLst/>
          </a:prstGeom>
          <a:solidFill>
            <a:srgbClr val="E1F5EE"/>
          </a:solidFill>
          <a:ln w="762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09560" y="4187952"/>
            <a:ext cx="164592" cy="138988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43251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9E75"/>
                </a:solidFill>
                <a:latin typeface="Calibri"/>
              </a:rPr>
              <a:t>知识不随 Agent 消亡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79" y="4736592"/>
            <a:ext cx="36576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5E5A"/>
                </a:solidFill>
                <a:latin typeface="Calibri"/>
              </a:rPr>
              <a:t>Agent 到期归档后，它积累的知识库永久保留。
下次同类需求可一键复活或克隆，继承全部历史知识。
相当于每个 Agent 是知识的"载体"，生命结束但知识传承。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394960"/>
            <a:ext cx="11521440" cy="12984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468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D1C7"/>
                </a:solidFill>
                <a:latin typeface="Calibri"/>
              </a:rPr>
              <a:t>与竞品的弹性管理对比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779008"/>
            <a:ext cx="987552" cy="256032"/>
          </a:xfrm>
          <a:prstGeom prst="round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064" y="58064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36192" y="5797296"/>
            <a:ext cx="164592" cy="219456"/>
          </a:xfrm>
          <a:prstGeom prst="round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55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常驻 Workflow 进程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822191" y="5797296"/>
            <a:ext cx="164592" cy="219456"/>
          </a:xfrm>
          <a:prstGeom prst="round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41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关闭需手动操作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08192" y="5797296"/>
            <a:ext cx="164592" cy="219456"/>
          </a:xfrm>
          <a:prstGeom prst="round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27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无生命周期概念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779008"/>
            <a:ext cx="987552" cy="256032"/>
          </a:xfrm>
          <a:prstGeom prst="roundRect">
            <a:avLst/>
          </a:prstGeom>
          <a:solidFill>
            <a:srgbClr val="E6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2064" y="58064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Dify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36192" y="5797296"/>
            <a:ext cx="164592" cy="219456"/>
          </a:xfrm>
          <a:prstGeom prst="round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755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应用常驻运行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22191" y="5797296"/>
            <a:ext cx="164592" cy="219456"/>
          </a:xfrm>
          <a:prstGeom prst="round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41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停用需进后台操作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08192" y="5797296"/>
            <a:ext cx="164592" cy="219456"/>
          </a:xfrm>
          <a:prstGeom prst="round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27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历史无自动归档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779008"/>
            <a:ext cx="987552" cy="256032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2064" y="58064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AgentForge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536192" y="5797296"/>
            <a:ext cx="164592" cy="219456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55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状态机驱动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822191" y="5797296"/>
            <a:ext cx="164592" cy="219456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41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自动到期归档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08192" y="5797296"/>
            <a:ext cx="164592" cy="219456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27648" y="5815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知识永久沉淀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394960"/>
            <a:ext cx="11521440" cy="1828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47472" y="5468112"/>
            <a:ext cx="11475720" cy="329184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11480" y="5513832"/>
            <a:ext cx="1234440" cy="237744"/>
          </a:xfrm>
          <a:prstGeom prst="round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8912" y="55412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37360" y="554126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常驻 Workflow 进程，无生命周期管理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0" y="554126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关闭需手动操作，没有归档概念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" y="5833872"/>
            <a:ext cx="11475720" cy="329184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11480" y="5879592"/>
            <a:ext cx="1234440" cy="237744"/>
          </a:xfrm>
          <a:prstGeom prst="roundRect">
            <a:avLst/>
          </a:prstGeom>
          <a:solidFill>
            <a:srgbClr val="E6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8912" y="590702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Dify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37360" y="59070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应用常驻运行，无弹性伸缩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83680" y="590702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停用需进后台，历史知识不归档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7472" y="6199632"/>
            <a:ext cx="11475720" cy="329184"/>
          </a:xfrm>
          <a:prstGeom prst="rect">
            <a:avLst/>
          </a:prstGeom>
          <a:solidFill>
            <a:srgbClr val="0F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11480" y="6245352"/>
            <a:ext cx="1234440" cy="23774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8912" y="627278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AgentForge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37360" y="627278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D1C7"/>
                </a:solidFill>
                <a:latin typeface="Calibri"/>
              </a:rPr>
              <a:t>状态机驱动，ACTIVE/IDLE/ARCHIVED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83680" y="62727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FE1CB"/>
                </a:solidFill>
                <a:latin typeface="Calibri"/>
              </a:rPr>
              <a:t>自动到期归档，知识永久沉淀，空闲零成本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384280" y="64922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建设路线图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749039" cy="5303520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749039" cy="56692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第一期 · MVP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207008"/>
            <a:ext cx="1170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12344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34AB7"/>
                </a:solidFill>
                <a:latin typeface="Calibri"/>
              </a:rPr>
              <a:t>建设中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920240"/>
            <a:ext cx="201168" cy="20116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93852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对话式 Agent 创建（意图理解引擎）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724912"/>
            <a:ext cx="201168" cy="20116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52344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飞书群机器人接入（Webhook + Bot SDK）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529584"/>
            <a:ext cx="201168" cy="20116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54787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57015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上下文自动知识提炼（SubAgent 压缩）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334256"/>
            <a:ext cx="201168" cy="20116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4352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61688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Agent 生命周期状态机（Redis TTL 驱动）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5138928"/>
            <a:ext cx="201168" cy="20116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515721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多 Worker 并发 Runtime（Redis 消息队列）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143000"/>
            <a:ext cx="3749039" cy="530352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1143000"/>
            <a:ext cx="3749039" cy="56692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18872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第二期 · 完善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1207008"/>
            <a:ext cx="1170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12344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9E75"/>
                </a:solidFill>
                <a:latin typeface="Calibri"/>
              </a:rPr>
              <a:t>规划中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2" y="1920240"/>
            <a:ext cx="201168" cy="2011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1416" y="193852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1947672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网站 Widget 嵌入（纯 JS + iframe 隔离）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2724912"/>
            <a:ext cx="201168" cy="2011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2752344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向量知识库（pgvector 语义检索）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2272" y="3529584"/>
            <a:ext cx="201168" cy="2011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354787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57015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执行质量自动评分与 Agent 重生成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4334256"/>
            <a:ext cx="201168" cy="2011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71416" y="4352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361688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到期通知 + 一键续期 / 复活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2272" y="5138928"/>
            <a:ext cx="201168" cy="2011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71416" y="515721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166360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管理看板：执行量、质量趋势统计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143000"/>
            <a:ext cx="3749039" cy="530352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1143000"/>
            <a:ext cx="3749039" cy="56692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118872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第三期 · 规模化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98480" y="1207008"/>
            <a:ext cx="1170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16767" y="12344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A7517"/>
                </a:solidFill>
                <a:latin typeface="Calibri"/>
              </a:rPr>
              <a:t>展望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94192" y="1920240"/>
            <a:ext cx="201168" cy="20116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3336" y="193852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1947672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多渠道扩展（钉钉、企微、Slack）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94192" y="2724912"/>
            <a:ext cx="201168" cy="20116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3336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2752344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多 Agent 协作编排（SubAgent 机制）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94192" y="3529584"/>
            <a:ext cx="201168" cy="20116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03336" y="354787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3557015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私有化部署包（docker-compose 一键交付）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94192" y="4334256"/>
            <a:ext cx="201168" cy="20116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03336" y="4352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361688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Agent 市场（团队内部共享模板）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94192" y="5138928"/>
            <a:ext cx="201168" cy="20116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03336" y="515721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166360"/>
            <a:ext cx="3200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企业级权限隔离与操作审计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与现有方案的本质差距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286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6624" y="1143000"/>
            <a:ext cx="27432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98064" y="1188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No-Code 平台（Lindy/n8n）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4688" y="1143000"/>
            <a:ext cx="27432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7" y="1188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Claude Code / Dev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02752" y="1143000"/>
            <a:ext cx="3200400" cy="4572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188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AgentForge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22860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830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使用门槛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6624" y="1691640"/>
            <a:ext cx="27432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17830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需配置流程节点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1691640"/>
            <a:ext cx="27432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7" y="17830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需编写代码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2752" y="1691640"/>
            <a:ext cx="3200400" cy="47548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4AB7"/>
                </a:solidFill>
                <a:latin typeface="Calibri"/>
              </a:rPr>
              <a:t>描述目标即可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03704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951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知识来源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06624" y="220370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4" y="229514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手动上传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220370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7" y="229514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手动编写 Prompt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02752" y="2203704"/>
            <a:ext cx="3200400" cy="47548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29514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4AB7"/>
                </a:solidFill>
                <a:latin typeface="Calibri"/>
              </a:rPr>
              <a:t>自动从上下文提炼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15768"/>
            <a:ext cx="22860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8072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Agent 创建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06624" y="2715768"/>
            <a:ext cx="27432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98064" y="2807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用户手动创建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04688" y="2715768"/>
            <a:ext cx="27432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96127" y="2807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开发者定义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02752" y="2715768"/>
            <a:ext cx="3200400" cy="47548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280720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4AB7"/>
                </a:solidFill>
                <a:latin typeface="Calibri"/>
              </a:rPr>
              <a:t>平台自动生成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27832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3192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生命周期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6624" y="3227832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98064" y="33192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永久运行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4688" y="3227832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96127" y="33192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任务完成即销毁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02752" y="3227832"/>
            <a:ext cx="3200400" cy="47548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33192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4AB7"/>
                </a:solidFill>
                <a:latin typeface="Calibri"/>
              </a:rPr>
              <a:t>有期限，知识沉淀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739896"/>
            <a:ext cx="22860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831335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成本模型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06624" y="3739896"/>
            <a:ext cx="27432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98064" y="3831335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月度订阅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04688" y="3739896"/>
            <a:ext cx="27432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96127" y="3831335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按调用计费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2752" y="3739896"/>
            <a:ext cx="3200400" cy="47548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94192" y="3831335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4AB7"/>
                </a:solidFill>
                <a:latin typeface="Calibri"/>
              </a:rPr>
              <a:t>空闲零成本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251960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3434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渠道接入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06624" y="425196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98064" y="43434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需技术配置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04688" y="425196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96127" y="43434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需自行对接 SDK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02752" y="4251960"/>
            <a:ext cx="3200400" cy="47548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94192" y="43434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4AB7"/>
                </a:solidFill>
                <a:latin typeface="Calibri"/>
              </a:rPr>
              <a:t>一键接入飞书/网站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764024"/>
            <a:ext cx="22860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8554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目标用户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06624" y="4764024"/>
            <a:ext cx="27432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98064" y="48554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有一定技术背景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04688" y="4764024"/>
            <a:ext cx="2743200" cy="4754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96127" y="48554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5E5A"/>
                </a:solidFill>
                <a:latin typeface="Calibri"/>
              </a:rPr>
              <a:t>开发者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02752" y="4764024"/>
            <a:ext cx="3200400" cy="475488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94192" y="485546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4AB7"/>
                </a:solidFill>
                <a:latin typeface="Calibri"/>
              </a:rPr>
              <a:t>所有企业员工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技术架构：Agent 工厂三层模型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0972800" cy="804672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371600" cy="80467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9844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5E5A"/>
                </a:solidFill>
                <a:latin typeface="Calibri"/>
              </a:rPr>
              <a:t>管理控制台 · 对话式创建 · 上下文上传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0972800" cy="804672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1371600" cy="80467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核心层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5000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5E5A"/>
                </a:solidFill>
                <a:latin typeface="Calibri"/>
              </a:rPr>
              <a:t>意图理解引擎 · Agent 生成引擎 · 生命周期管理 · 上下文处理引擎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0972800" cy="80467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371600" cy="80467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渠道层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40156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5E5A"/>
                </a:solidFill>
                <a:latin typeface="Calibri"/>
              </a:rPr>
              <a:t>飞书机器人 · 网站 Widget · 定时触发 / Webhook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10972800" cy="80467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51960"/>
            <a:ext cx="1371600" cy="804672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34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执行层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5312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5E5A"/>
                </a:solidFill>
                <a:latin typeface="Calibri"/>
              </a:rPr>
              <a:t>Agent Runtime（Serverless 按需实例化）· 工具沙箱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0972800" cy="804672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03520"/>
            <a:ext cx="1371600" cy="804672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864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存储层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50468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5E5A"/>
                </a:solidFill>
                <a:latin typeface="Calibri"/>
              </a:rPr>
              <a:t>PostgreSQL · pgvector 向量库 · Redis 缓存 · 执行日志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设计原则：Agent 定义存数据库  ·  Runtime 无状态按需加载  ·  空闲时零资源消耗  ·  状态机由 Redis TTL 事件驱动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平台能力边界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331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2331720" cy="164592"/>
          </a:xfrm>
          <a:prstGeom prst="rect">
            <a:avLst/>
          </a:prstGeom>
          <a:solidFill>
            <a:srgbClr val="AFA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2763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FA9EC"/>
                </a:solidFill>
                <a:latin typeface="Calibri"/>
              </a:rPr>
              <a:t>1000+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3D1C7"/>
                </a:solidFill>
                <a:latin typeface="Calibri"/>
              </a:rPr>
              <a:t>并发 Agent 支持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371600"/>
            <a:ext cx="2331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371600"/>
            <a:ext cx="2331720" cy="164592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62763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1F5EE"/>
                </a:solidFill>
                <a:latin typeface="Calibri"/>
              </a:rPr>
              <a:t>&lt; 50ms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3D1C7"/>
                </a:solidFill>
                <a:latin typeface="Calibri"/>
              </a:rPr>
              <a:t>消息响应延迟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331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331720" cy="164592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62763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AEEDA"/>
                </a:solidFill>
                <a:latin typeface="Calibri"/>
              </a:rPr>
              <a:t>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3D1C7"/>
                </a:solidFill>
                <a:latin typeface="Calibri"/>
              </a:rPr>
              <a:t>空闲时资源成本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371600"/>
            <a:ext cx="233172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1371600"/>
            <a:ext cx="2331720" cy="164592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162763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F1FB"/>
                </a:solidFill>
                <a:latin typeface="Calibri"/>
              </a:rPr>
              <a:t>永久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3D1C7"/>
                </a:solidFill>
                <a:latin typeface="Calibri"/>
              </a:rPr>
              <a:t>知识归档保留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D1C7"/>
                </a:solidFill>
                <a:latin typeface="Calibri"/>
              </a:rPr>
              <a:t>各规模阶段配置建议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749039"/>
            <a:ext cx="1645920" cy="3657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794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阶段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3749039"/>
            <a:ext cx="1645920" cy="3657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3794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活跃Agent数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2544" y="3749039"/>
            <a:ext cx="1828800" cy="3657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3794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Worker数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3749039"/>
            <a:ext cx="1828800" cy="3657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794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6448" y="3749039"/>
            <a:ext cx="1828800" cy="3657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794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数据库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187952"/>
            <a:ext cx="164592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2793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MVP 阶段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33472" y="4187952"/>
            <a:ext cx="164592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2793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&lt; 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52544" y="4187952"/>
            <a:ext cx="182880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25696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2 个 Worker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4496" y="4187952"/>
            <a:ext cx="182880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单机 Redis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6448" y="4187952"/>
            <a:ext cx="182880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单机 PostgreSQL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663440"/>
            <a:ext cx="1645920" cy="420624"/>
          </a:xfrm>
          <a:prstGeom prst="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" y="47548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成长期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33472" y="4663440"/>
            <a:ext cx="1645920" cy="420624"/>
          </a:xfrm>
          <a:prstGeom prst="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6624" y="47548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50~500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52544" y="4663440"/>
            <a:ext cx="1828800" cy="420624"/>
          </a:xfrm>
          <a:prstGeom prst="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5696" y="47548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5~10 个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4663440"/>
            <a:ext cx="1828800" cy="420624"/>
          </a:xfrm>
          <a:prstGeom prst="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47548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主从复制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56448" y="4663440"/>
            <a:ext cx="1828800" cy="420624"/>
          </a:xfrm>
          <a:prstGeom prst="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475487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读写分离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5138928"/>
            <a:ext cx="164592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" y="5230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规模化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33472" y="5138928"/>
            <a:ext cx="164592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6624" y="5230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500~5K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52544" y="5138928"/>
            <a:ext cx="182880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25696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20~50（弹性）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54496" y="5138928"/>
            <a:ext cx="182880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Redis 集群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56448" y="5138928"/>
            <a:ext cx="1828800" cy="420624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0" y="52303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D1C7"/>
                </a:solidFill>
                <a:latin typeface="Calibri"/>
              </a:rPr>
              <a:t>分库 + pgvector 独立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  <a:latin typeface="Calibri"/>
              </a:rPr>
              <a:t>愿景与展望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让每个人都拥有自己的 AI 团队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0058400" cy="1143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164592" cy="1143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34AB7"/>
                </a:solidFill>
                <a:latin typeface="Calibri"/>
              </a:rPr>
              <a:t>近期（6 个月）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3D1C7"/>
                </a:solidFill>
                <a:latin typeface="Calibri"/>
              </a:rPr>
              <a:t>企业内部验证 PMF：飞书答疑机器人 + 网站问答 Widget，
目标：10 家种子企业客户，Agent 创建到生效 &lt; 5 分钟。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10058400" cy="1143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611880"/>
            <a:ext cx="164592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  <a:latin typeface="Calibri"/>
              </a:rPr>
              <a:t>中期（1~2 年）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3D1C7"/>
                </a:solidFill>
                <a:latin typeface="Calibri"/>
              </a:rPr>
              <a:t>成为企业 AI 基础设施：每个重复性工作场景都有对应 Agent，
用户描述目标的那一刻，Agent 已经在工作。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937760"/>
            <a:ext cx="10058400" cy="1143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937760"/>
            <a:ext cx="164592" cy="11430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A7517"/>
                </a:solidFill>
                <a:latin typeface="Calibri"/>
              </a:rPr>
              <a:t>长期愿景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86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3D1C7"/>
                </a:solidFill>
                <a:latin typeface="Calibri"/>
              </a:rPr>
              <a:t>Agent 生态：用户创建的 Agent 可分享、可交易、可组合，
形成企业知识的「活态传承」体系。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81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AgentForge  ·  对话驱动的企业 Agent 工厂  ·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桌宠客户端：把 Agent 变成你身边的同事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3766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64592" cy="537667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07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FA9EC"/>
                </a:solidFill>
                <a:latin typeface="Calibri"/>
              </a:rPr>
              <a:t>为什么需要桌宠？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273552" cy="256032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现有渠道的盲区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3273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3D1C7"/>
                </a:solidFill>
                <a:latin typeface="Calibri"/>
              </a:rPr>
              <a:t>飞书 / 网站 / Webhook 只能处理消息和网络资源，用户本地的文件、截图、剪贴板、系统通知——完全触达不到。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79192"/>
            <a:ext cx="3273552" cy="256032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15768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工具 vs 同事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08376"/>
            <a:ext cx="3273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3D1C7"/>
                </a:solidFill>
                <a:latin typeface="Calibri"/>
              </a:rPr>
              <a:t>现有 Agent 需要用户主动去找它。桌宠常驻桌面，能感知你在做什么，主动在合适的时候提供帮助。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66744"/>
            <a:ext cx="3273552" cy="256032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本地执行能力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95928"/>
            <a:ext cx="3273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3D1C7"/>
                </a:solidFill>
                <a:latin typeface="Calibri"/>
              </a:rPr>
              <a:t>企业数据敏感，很多操作不能上云。桌宠在本地执行，数据不出设备，处理结果才同步到平台。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70448"/>
            <a:ext cx="3657600" cy="512064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96188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FA9EC"/>
                </a:solidFill>
                <a:latin typeface="Calibri"/>
              </a:rPr>
              <a:t>设计原则：像安静的同事，而不是不停弹窗的工具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097280"/>
            <a:ext cx="3749039" cy="2212848"/>
          </a:xfrm>
          <a:prstGeom prst="rect">
            <a:avLst/>
          </a:prstGeom>
          <a:solidFill>
            <a:srgbClr val="EEEDFE"/>
          </a:solidFill>
          <a:ln w="762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097280"/>
            <a:ext cx="3749039" cy="43891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179576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本地文件感知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691640"/>
            <a:ext cx="352043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拖文件到桌宠即可处理
Excel 分析 · PDF 摘要
合同关键条款提取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097280"/>
            <a:ext cx="3749039" cy="2212848"/>
          </a:xfrm>
          <a:prstGeom prst="rect">
            <a:avLst/>
          </a:prstGeom>
          <a:solidFill>
            <a:srgbClr val="E1F5EE"/>
          </a:solidFill>
          <a:ln w="762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1097280"/>
            <a:ext cx="3749039" cy="43891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179576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屏幕 / 剪贴板感知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691640"/>
            <a:ext cx="352043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复制报错 → 自动分析
截图 → 识别并操作
主动感知工作上下文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493008"/>
            <a:ext cx="3749039" cy="2212848"/>
          </a:xfrm>
          <a:prstGeom prst="rect">
            <a:avLst/>
          </a:prstGeom>
          <a:solidFill>
            <a:srgbClr val="FAEEDA"/>
          </a:solidFill>
          <a:ln w="762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493008"/>
            <a:ext cx="3749039" cy="43891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575303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本地自动化执行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087368"/>
            <a:ext cx="352043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定时整理本地文件
监控文件夹变动触发
调用本地程序和脚本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493008"/>
            <a:ext cx="3749039" cy="2212848"/>
          </a:xfrm>
          <a:prstGeom prst="rect">
            <a:avLst/>
          </a:prstGeom>
          <a:solidFill>
            <a:srgbClr val="E6F1FB"/>
          </a:solidFill>
          <a:ln w="762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493008"/>
            <a:ext cx="3749039" cy="438912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575303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与云端 Agent 协同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87368"/>
            <a:ext cx="352043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5E5A"/>
                </a:solidFill>
                <a:latin typeface="Calibri"/>
              </a:rPr>
              <a:t>本地读文件 → 上传平台
云端 Agent 处理 → 结果
通过桌宠推送到用户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5806440"/>
            <a:ext cx="7680960" cy="566928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07408" y="5888736"/>
            <a:ext cx="1737360" cy="274320"/>
          </a:xfrm>
          <a:prstGeom prst="round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591616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飞书群机器人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54496" y="5888736"/>
            <a:ext cx="1737360" cy="274320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59" y="591616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网站 Widget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5888736"/>
            <a:ext cx="1737360" cy="274320"/>
          </a:xfrm>
          <a:prstGeom prst="round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591616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Webhook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48672" y="5888736"/>
            <a:ext cx="1737360" cy="274320"/>
          </a:xfrm>
          <a:prstGeom prst="round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03536" y="591616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桌宠客户端 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64922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